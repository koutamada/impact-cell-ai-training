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704b25ce9541cf" /><Relationship Type="http://schemas.openxmlformats.org/officeDocument/2006/relationships/extended-properties" Target="/docProps/app.xml" Id="R3dcdb40c878642c0" /><Relationship Type="http://schemas.openxmlformats.org/officeDocument/2006/relationships/officeDocument" Target="/ppt/presentation.xml" Id="Re38d352eca2b4c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00dd7adc444573"/>
  </p:sldMasterIdLst>
  <p:notesMasterIdLst>
    <p:notesMasterId xmlns:r="http://schemas.openxmlformats.org/officeDocument/2006/relationships" r:id="Rd4b619a48a284c32"/>
  </p:notesMasterIdLst>
  <p:sldIdLst>
    <p:sldId xmlns:r="http://schemas.openxmlformats.org/officeDocument/2006/relationships" id="256" r:id="Rfe290b0f925947ff"/>
    <p:sldId xmlns:r="http://schemas.openxmlformats.org/officeDocument/2006/relationships" id="257" r:id="R67a45fd2f4b642c8"/>
    <p:sldId xmlns:r="http://schemas.openxmlformats.org/officeDocument/2006/relationships" id="258" r:id="R0a67dc734e954886"/>
    <p:sldId xmlns:r="http://schemas.openxmlformats.org/officeDocument/2006/relationships" id="259" r:id="R057c9562b95c4c0e"/>
    <p:sldId xmlns:r="http://schemas.openxmlformats.org/officeDocument/2006/relationships" id="260" r:id="R10ab23dfcaef42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90fb79af984a0c" /><Relationship Type="http://schemas.openxmlformats.org/officeDocument/2006/relationships/slideMaster" Target="/ppt/slideMasters/slideMaster1.xml" Id="R4700dd7adc444573" /><Relationship Type="http://schemas.openxmlformats.org/officeDocument/2006/relationships/notesMaster" Target="/ppt/notesMasters/notesMaster1.xml" Id="Rd4b619a48a284c32" /><Relationship Type="http://schemas.openxmlformats.org/officeDocument/2006/relationships/presProps" Target="/ppt/presProps.xml" Id="R87518f9ec360460a" /><Relationship Type="http://schemas.openxmlformats.org/officeDocument/2006/relationships/tableStyles" Target="/ppt/tableStyles.xml" Id="R24c298c35b7245f1" /><Relationship Type="http://schemas.openxmlformats.org/officeDocument/2006/relationships/slide" Target="/ppt/slides/slide1.xml" Id="Rfe290b0f925947ff" /><Relationship Type="http://schemas.openxmlformats.org/officeDocument/2006/relationships/slide" Target="/ppt/slides/slide2.xml" Id="R67a45fd2f4b642c8" /><Relationship Type="http://schemas.openxmlformats.org/officeDocument/2006/relationships/slide" Target="/ppt/slides/slide3.xml" Id="R0a67dc734e954886" /><Relationship Type="http://schemas.openxmlformats.org/officeDocument/2006/relationships/slide" Target="/ppt/slides/slide4.xml" Id="R057c9562b95c4c0e" /><Relationship Type="http://schemas.openxmlformats.org/officeDocument/2006/relationships/slide" Target="/ppt/slides/slide5.xml" Id="R10ab23dfcaef42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f2669c17d94b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80f649cb564a6a" /><Relationship Type="http://schemas.openxmlformats.org/officeDocument/2006/relationships/notesMaster" Target="/ppt/notesMasters/notesMaster1.xml" Id="R02df17e4713d4f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f4bb8323bd4d84" /><Relationship Type="http://schemas.openxmlformats.org/officeDocument/2006/relationships/notesMaster" Target="/ppt/notesMasters/notesMaster1.xml" Id="R77d50d759d7041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dff8914c594807" /><Relationship Type="http://schemas.openxmlformats.org/officeDocument/2006/relationships/notesMaster" Target="/ppt/notesMasters/notesMaster1.xml" Id="Rb4afcc24c9e948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9111a0b8154821" /><Relationship Type="http://schemas.openxmlformats.org/officeDocument/2006/relationships/notesMaster" Target="/ppt/notesMasters/notesMaster1.xml" Id="R61b8fa13560748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c639610f334874" /><Relationship Type="http://schemas.openxmlformats.org/officeDocument/2006/relationships/notesMaster" Target="/ppt/notesMasters/notesMaster1.xml" Id="R609cf303ff6d4f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ca6055d03444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40e9b360e24bd1" /><Relationship Type="http://schemas.openxmlformats.org/officeDocument/2006/relationships/slideLayout" Target="/ppt/slideLayouts/slideLayout1.xml" Id="R479cdcc90e6045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9cdcc90e6045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3e96a81114543" /><Relationship Type="http://schemas.openxmlformats.org/officeDocument/2006/relationships/notesSlide" Target="/ppt/notesSlides/notesSlide1.xml" Id="R8d05cded02954e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8cec68952c475c" /><Relationship Type="http://schemas.openxmlformats.org/officeDocument/2006/relationships/notesSlide" Target="/ppt/notesSlides/notesSlide2.xml" Id="R2321e39a71e446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6bbd02b4c417c" /><Relationship Type="http://schemas.openxmlformats.org/officeDocument/2006/relationships/notesSlide" Target="/ppt/notesSlides/notesSlide3.xml" Id="R14abf0b92dfa41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e5e0d2ab584bfd" /><Relationship Type="http://schemas.openxmlformats.org/officeDocument/2006/relationships/notesSlide" Target="/ppt/notesSlides/notesSlide4.xml" Id="Ra8b2ede66b6a46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ce4c53d9f4487" /><Relationship Type="http://schemas.openxmlformats.org/officeDocument/2006/relationships/notesSlide" Target="/ppt/notesSlides/notesSlide5.xml" Id="Ra501df4aed2a4f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B8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797D97-F54B-45E2-BDFC-792C132B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DE6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DDE6FF"/>
                </a:solidFill>
                <a:latin typeface="Bitstream Charter"/>
                <a:ea typeface="Bitstream Charter"/>
                <a:cs typeface="Bitstream Charter"/>
              </a:rPr>
              <a:t>PART 6 TEST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A1B4C-6884-41D2-B1B5-96051CE3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7429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Public Transport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Redesign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CE82C1-66FE-4710-8670-5A0A03AD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6625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DE6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DDE6FF"/>
                </a:solidFill>
                <a:latin typeface="Bitstream Charter"/>
                <a:ea typeface="Bitstream Charter"/>
                <a:cs typeface="Bitstream Charter"/>
              </a:rPr>
              <a:t>A structured presentation for testing PPTX summarization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76BD9F-3A27-4E66-8083-A4026E66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7622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B8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73B8F"/>
                </a:solidFill>
                <a:latin typeface="Bitstream Charter"/>
                <a:ea typeface="Bitstream Charter"/>
                <a:cs typeface="Bitstream Charter"/>
              </a:rPr>
              <a:t>Key figures</a:t>
            </a:r>
          </a:p>
          <a:p xmlns:a="http://schemas.openxmlformats.org/drawingml/2006/main">
            <a:pPr>
              <a:defRPr sz="1725" b="1">
                <a:solidFill>
                  <a:srgbClr val="173B8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73B8F"/>
                </a:solidFill>
                <a:latin typeface="Bitstream Charter"/>
                <a:ea typeface="Bitstream Charter"/>
                <a:cs typeface="Bitstream Charter"/>
              </a:rPr>
              <a:t>180,000 → 140,000 population</a:t>
            </a:r>
          </a:p>
          <a:p xmlns:a="http://schemas.openxmlformats.org/drawingml/2006/main">
            <a:pPr>
              <a:defRPr sz="1725" b="1">
                <a:solidFill>
                  <a:srgbClr val="173B8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73B8F"/>
                </a:solidFill>
                <a:latin typeface="Bitstream Charter"/>
                <a:ea typeface="Bitstream Charter"/>
                <a:cs typeface="Bitstream Charter"/>
              </a:rPr>
              <a:t>38 routes • 22% cost increase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8E1C69-3B52-4545-8B41-E152453A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DE6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DDE6FF"/>
                </a:solidFill>
                <a:latin typeface="Bitstream Charter"/>
                <a:ea typeface="Bitstream Charter"/>
                <a:cs typeface="Bitstream Charter"/>
              </a:rPr>
              <a:t>Test whether slide titles, body text, numerical facts, and the timeline remain traceable in the summary.</a:t>
            </a:r>
          </a:p>
        </p:txBody>
      </p:sp>
    </p:spTree>
    <p:extLst>
      <p:ext uri="{BB962C8B-B14F-4D97-AF65-F5344CB8AC3E}">
        <p14:creationId xmlns:p14="http://schemas.microsoft.com/office/powerpoint/2010/main" val="3795692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B99473-AE7A-4387-8EA3-B33F4DE1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65CC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365CCB"/>
                </a:solidFill>
                <a:latin typeface="Bitstream Charter"/>
                <a:ea typeface="Bitstream Charter"/>
                <a:cs typeface="Bitstream Charter"/>
              </a:rPr>
              <a:t>BACKGROUND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D4D4C-4A99-4DF8-9C63-5EDB61D1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24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5243A"/>
                </a:solidFill>
                <a:latin typeface="Bitstream Charter"/>
                <a:ea typeface="Bitstream Charter"/>
                <a:cs typeface="Bitstream Charter"/>
              </a:rPr>
              <a:t>Why the network must change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36158-495C-4BF9-B056-AE700545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CC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06DDF2-3FA0-4234-9BD1-AB83ED92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F"/>
          </a:solidFill>
          <a:ln xmlns:a="http://schemas.openxmlformats.org/drawingml/2006/main" w="9525">
            <a:solidFill>
              <a:srgbClr val="AFC0F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B043B-7172-4190-A495-048B2948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90700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02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rPr>
              <a:t>Population decline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D90FE7-1E30-44AD-91BC-B1B176AF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145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4405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344054"/>
                </a:solidFill>
                <a:latin typeface="Bitstream Charter"/>
                <a:ea typeface="Bitstream Charter"/>
                <a:cs typeface="Bitstream Charter"/>
              </a:rPr>
              <a:t>The city fell from about 180,000 residents in 2000 to about 140,000 in 2026. Suburban bus use has declined sharply.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F65642-1A76-400F-B34A-F2EBA8AA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F"/>
          </a:solidFill>
          <a:ln xmlns:a="http://schemas.openxmlformats.org/drawingml/2006/main" w="9525">
            <a:solidFill>
              <a:srgbClr val="AFC0F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B16167-1926-4AB0-8C54-C65A19DA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24200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02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rPr>
              <a:t>Essential access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348B70-F580-47E2-9BA1-E71FED8F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480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4405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344054"/>
                </a:solidFill>
                <a:latin typeface="Bitstream Charter"/>
                <a:ea typeface="Bitstream Charter"/>
                <a:cs typeface="Bitstream Charter"/>
              </a:rPr>
              <a:t>Older residents and students still depend on buses for hospitals, schools, and shopping.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471147-4B7C-40CE-B92B-1369672D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F"/>
          </a:solidFill>
          <a:ln xmlns:a="http://schemas.openxmlformats.org/drawingml/2006/main" w="9525">
            <a:solidFill>
              <a:srgbClr val="AFC0F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D7F047-CA4D-4E6F-803E-55C8098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57700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02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rPr>
              <a:t>Operating pressure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386421-1245-4CE1-9574-46978096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815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4405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344054"/>
                </a:solidFill>
                <a:latin typeface="Bitstream Charter"/>
                <a:ea typeface="Bitstream Charter"/>
                <a:cs typeface="Bitstream Charter"/>
              </a:rPr>
              <a:t>Two private operators run 38 routes. Costs rose about 22% in five years, while annual city subsidies reached about 400 million yen.</a:t>
            </a:r>
          </a:p>
        </p:txBody>
      </p:sp>
    </p:spTree>
    <p:extLst>
      <p:ext uri="{BB962C8B-B14F-4D97-AF65-F5344CB8AC3E}">
        <p14:creationId xmlns:p14="http://schemas.microsoft.com/office/powerpoint/2010/main" val="17945242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B9BC0F-5FC5-4DE0-ABAF-40791127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65CC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365CCB"/>
                </a:solidFill>
                <a:latin typeface="Bitstream Charter"/>
                <a:ea typeface="Bitstream Charter"/>
                <a:cs typeface="Bitstream Charter"/>
              </a:rPr>
              <a:t>REDESIGN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D5691A-BD32-4EDF-A32F-78912963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24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5243A"/>
                </a:solidFill>
                <a:latin typeface="Bitstream Charter"/>
                <a:ea typeface="Bitstream Charter"/>
                <a:cs typeface="Bitstream Charter"/>
              </a:rPr>
              <a:t>Service model and pilot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F23A1-6174-4AFC-8525-23754E8D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CC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21E1A8-7244-4781-9CA1-66E2702E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3190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65CC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365CCB"/>
                </a:solidFill>
                <a:latin typeface="Bitstream Charter"/>
                <a:ea typeface="Bitstream Charter"/>
                <a:cs typeface="Bitstream Charter"/>
              </a:rPr>
              <a:t>TRUNK ROUTES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ECD94E-1A8D-4166-9E32-8544939A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31908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AFC0F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rPr>
              <a:t>Every 30 minutes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762445-9A22-42E3-BE6A-E3ABF487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62125"/>
            <a:ext cx="3190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65CC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365CCB"/>
                </a:solidFill>
                <a:latin typeface="Bitstream Charter"/>
                <a:ea typeface="Bitstream Charter"/>
                <a:cs typeface="Bitstream Charter"/>
              </a:rPr>
              <a:t>ON-DEMAND AREAS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E183D5-FE75-4FF6-82FA-DC1381CF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38375"/>
            <a:ext cx="31908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AFC0F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rPr>
              <a:t>Phone or smartphone booking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5BE619-BBFF-4A0C-931C-93B195DC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3190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65CC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365CCB"/>
                </a:solidFill>
                <a:latin typeface="Bitstream Charter"/>
                <a:ea typeface="Bitstream Charter"/>
                <a:cs typeface="Bitstream Charter"/>
              </a:rPr>
              <a:t>DESTINATIONS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BD51D9-7E26-417B-9C37-E3466470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38375"/>
            <a:ext cx="31908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AFC0F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rPr>
              <a:t>Station • Hospital • Shops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7AD68F-C6C7-490C-90DE-0A907E03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rPr>
              <a:t>Pilot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00AFDE-2611-4591-A142-30B218CC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195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A23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A23A3A"/>
                </a:solidFill>
                <a:latin typeface="Bitstream Charter"/>
                <a:ea typeface="Bitstream Charter"/>
                <a:cs typeface="Bitstream Charter"/>
              </a:rPr>
              <a:t>18 min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46BD60-BD96-4818-91A7-77BA9BB8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1950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731316-6D93-453E-8E72-00F49C66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195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734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16734D"/>
                </a:solidFill>
                <a:latin typeface="Bitstream Charter"/>
                <a:ea typeface="Bitstream Charter"/>
                <a:cs typeface="Bitstream Charter"/>
              </a:rPr>
              <a:t>11 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2601B7-DCD2-445C-A983-340EB6DB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86250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08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67085"/>
                </a:solidFill>
                <a:latin typeface="Bitstream Charter"/>
                <a:ea typeface="Bitstream Charter"/>
                <a:cs typeface="Bitstream Charter"/>
              </a:rPr>
              <a:t>average waiting 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B804DA-0760-4763-ADA0-1C2EDAA5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0"/>
            <a:ext cx="319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6734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625" b="1">
                <a:solidFill>
                  <a:srgbClr val="16734D"/>
                </a:solidFill>
                <a:latin typeface="Bitstream Charter"/>
                <a:ea typeface="Bitstream Charter"/>
                <a:cs typeface="Bitstream Charter"/>
              </a:rPr>
              <a:t>about 25% lower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701182-85DD-45B0-A541-17A25E97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86250"/>
            <a:ext cx="319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08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67085"/>
                </a:solidFill>
                <a:latin typeface="Bitstream Charter"/>
                <a:ea typeface="Bitstream Charter"/>
                <a:cs typeface="Bitstream Charter"/>
              </a:rPr>
              <a:t>operating cost per rider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693EAB-5FE8-480F-8CDF-7582FC35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rPr>
              <a:t>Access support: telephone desk, community-center instruction, and reservation-free services at critical times.</a:t>
            </a:r>
          </a:p>
        </p:txBody>
      </p:sp>
    </p:spTree>
    <p:extLst>
      <p:ext uri="{BB962C8B-B14F-4D97-AF65-F5344CB8AC3E}">
        <p14:creationId xmlns:p14="http://schemas.microsoft.com/office/powerpoint/2010/main" val="12935250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99EF80-7DE5-4065-8DBE-FCF2A296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65CC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365CCB"/>
                </a:solidFill>
                <a:latin typeface="Bitstream Charter"/>
                <a:ea typeface="Bitstream Charter"/>
                <a:cs typeface="Bitstream Charter"/>
              </a:rPr>
              <a:t>POLICY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290601-4944-43DE-A5E4-F9800AFB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24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5243A"/>
                </a:solidFill>
                <a:latin typeface="Bitstream Charter"/>
                <a:ea typeface="Bitstream Charter"/>
                <a:cs typeface="Bitstream Charter"/>
              </a:rPr>
              <a:t>Fares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C40737-6D03-4839-8990-C32A7A68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CC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5C6E8-C0C7-4B30-AAC7-CEF9F049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6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8672F-2DFA-4ACA-B74F-A554835C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62125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6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Fare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A4E7B4-E81A-4E14-84BC-93E0EC0F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62125"/>
            <a:ext cx="542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69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Discount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0928A-9729-407E-A586-DF64418E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342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rPr>
              <a:t>Trunk bus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867AB4-EACA-46B7-8E3F-E9571FC0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19325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rPr>
              <a:t>250 yen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549FB9-F287-4B13-9979-46C1CE57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19325"/>
            <a:ext cx="542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rPr>
              <a:t>Half price for residents aged 75+ and people with disabilities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4B7905-F635-4274-90EE-E50E61BC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28925"/>
            <a:ext cx="342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A"/>
          </a:solidFill>
          <a:ln xmlns:a="http://schemas.openxmlformats.org/drawingml/2006/main" w="9525">
            <a:solidFill>
              <a:srgbClr val="D0D5DD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rPr>
              <a:t>On-demand vehicle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65AD3E-397E-4590-A658-9563FBBD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28925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A"/>
          </a:solidFill>
          <a:ln xmlns:a="http://schemas.openxmlformats.org/drawingml/2006/main" w="9525">
            <a:solidFill>
              <a:srgbClr val="D0D5DD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rPr>
              <a:t>400 yen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852934-5B71-4A28-AA62-9654EF6D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28925"/>
            <a:ext cx="542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A"/>
          </a:solidFill>
          <a:ln xmlns:a="http://schemas.openxmlformats.org/drawingml/2006/main" w="9525">
            <a:solidFill>
              <a:srgbClr val="D0D5DD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rPr>
              <a:t>Same eligibility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24B56C-6FF7-4A35-9E42-D9C30B94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342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rPr>
              <a:t>Elementary-age children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4C6F9C-B194-47F0-85F0-A6D00FEC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38525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rPr>
              <a:t>0 yen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C82C1A-A90E-4F8F-819E-A0CF5FD6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38525"/>
            <a:ext cx="542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rPr>
              <a:t>Free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5ECFAE-F4CD-4592-BAA0-80A882DE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rPr>
              <a:t>Evaluation metrics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294446-592D-4D2E-A886-21416D6C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1066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rPr>
              <a:t>Ridership • Waiting time • Cost per rider • Rejected bookings • Satisfaction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65CD52-00E0-4386-AFD2-BFA347B3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08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67085"/>
                </a:solidFill>
                <a:latin typeface="Bitstream Charter"/>
                <a:ea typeface="Bitstream Charter"/>
                <a:cs typeface="Bitstream Charter"/>
              </a:rPr>
              <a:t>High satisfaction alone is not enough if many booking requests are rejected.</a:t>
            </a:r>
          </a:p>
        </p:txBody>
      </p:sp>
    </p:spTree>
    <p:extLst>
      <p:ext uri="{BB962C8B-B14F-4D97-AF65-F5344CB8AC3E}">
        <p14:creationId xmlns:p14="http://schemas.microsoft.com/office/powerpoint/2010/main" val="15864258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6E93FB-2C6F-4AAF-B8EF-7AC079E1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65CC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365CCB"/>
                </a:solidFill>
                <a:latin typeface="Bitstream Charter"/>
                <a:ea typeface="Bitstream Charter"/>
                <a:cs typeface="Bitstream Charter"/>
              </a:rPr>
              <a:t>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F224CC-C21F-4A0F-85FB-BF0648A3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24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5243A"/>
                </a:solidFill>
                <a:latin typeface="Bitstream Charter"/>
                <a:ea typeface="Bitstream Charter"/>
                <a:cs typeface="Bitstream Charter"/>
              </a:rPr>
              <a:t>Implementation timeline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72037A-1ABC-4530-86C8-C33613F3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CC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5C620F-8B89-42F0-AB39-339A5B2C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2714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65CC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365CCB"/>
                </a:solidFill>
                <a:latin typeface="Bitstream Charter"/>
                <a:ea typeface="Bitstream Charter"/>
                <a:cs typeface="Bitstream Charter"/>
              </a:rPr>
              <a:t>APR 2027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4A9218-DED8-4FB2-A56E-3757C4CA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2714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AFC0F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rPr>
              <a:t>Selected areas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F33206-1E91-4E28-BFEE-FD3E04B0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86125"/>
            <a:ext cx="2714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rPr>
              <a:t>Launch the redesigned service in part of the city.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4B4BD2-7E41-4BCC-A452-B59A42F3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2714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65CC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365CCB"/>
                </a:solidFill>
                <a:latin typeface="Bitstream Charter"/>
                <a:ea typeface="Bitstream Charter"/>
                <a:cs typeface="Bitstream Charter"/>
              </a:rPr>
              <a:t>6 MONTHS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2B1C83-2922-4314-A49D-77F57450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76500"/>
            <a:ext cx="2714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AFC0F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rPr>
              <a:t>Review and adjust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4C812B-7178-4C31-8A24-FAE2D79E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86125"/>
            <a:ext cx="2714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rPr>
              <a:t>Measure five indicators and add vehicles or drivers when needed.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C16EA1-7243-428C-9776-33FF824C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52625"/>
            <a:ext cx="2714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65CC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365CCB"/>
                </a:solidFill>
                <a:latin typeface="Bitstream Charter"/>
                <a:ea typeface="Bitstream Charter"/>
                <a:cs typeface="Bitstream Charter"/>
              </a:rPr>
              <a:t>FY 2028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3768F1-38B4-4AC9-958D-7A33EF2C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2714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AFC0F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rPr>
              <a:t>Citywide expansion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4C0267-3455-43E2-A570-94339B58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86125"/>
            <a:ext cx="2714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82238"/>
                </a:solidFill>
                <a:latin typeface="Bitstream Charter"/>
                <a:ea typeface="Bitstream Charter"/>
                <a:cs typeface="Bitstream Charter"/>
              </a:rPr>
              <a:t>Expand after reviewing evidence and public feedback.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83F8BC-CD27-495D-91E4-8D523A59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B8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73B8F"/>
                </a:solidFill>
                <a:latin typeface="Bitstream Charter"/>
                <a:ea typeface="Bitstream Charter"/>
                <a:cs typeface="Bitstream Charter"/>
              </a:rPr>
              <a:t>The city frames the redesign as preserving mobility with limited resources, not simply cutting routes.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078A13-C2CD-4FE5-9D14-5D10BE90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055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08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67085"/>
                </a:solidFill>
                <a:latin typeface="Bitstream Charter"/>
                <a:ea typeface="Bitstream Charter"/>
                <a:cs typeface="Bitstream Charter"/>
              </a:rPr>
              <a:t>Residents' concerns about losing familiar stops will be considered through meetings and trial operations.</a:t>
            </a:r>
          </a:p>
        </p:txBody>
      </p:sp>
    </p:spTree>
    <p:extLst>
      <p:ext uri="{BB962C8B-B14F-4D97-AF65-F5344CB8AC3E}">
        <p14:creationId xmlns:p14="http://schemas.microsoft.com/office/powerpoint/2010/main" val="21447840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2026-09-16T00:36:09.5870000Z</dcterms:created>
  <dcterms:modified xsi:type="dcterms:W3CDTF">2026-09-16T00:36:09.5870000Z</dcterms:modified>
</coreProperties>
</file>