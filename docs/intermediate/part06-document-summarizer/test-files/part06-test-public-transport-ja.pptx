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6b695bc7148c9" /><Relationship Type="http://schemas.openxmlformats.org/officeDocument/2006/relationships/extended-properties" Target="/docProps/app.xml" Id="Rab5d3dd7151f435a" /><Relationship Type="http://schemas.openxmlformats.org/officeDocument/2006/relationships/officeDocument" Target="/ppt/presentation.xml" Id="Rca7a8d79c21e4c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6cdb0a1d9c4b4a"/>
  </p:sldMasterIdLst>
  <p:notesMasterIdLst>
    <p:notesMasterId xmlns:r="http://schemas.openxmlformats.org/officeDocument/2006/relationships" r:id="R99f5e133a7d74940"/>
  </p:notesMasterIdLst>
  <p:sldIdLst>
    <p:sldId xmlns:r="http://schemas.openxmlformats.org/officeDocument/2006/relationships" id="256" r:id="R2e8cd1d904664e7c"/>
    <p:sldId xmlns:r="http://schemas.openxmlformats.org/officeDocument/2006/relationships" id="257" r:id="R3c96b8ba6968416c"/>
    <p:sldId xmlns:r="http://schemas.openxmlformats.org/officeDocument/2006/relationships" id="258" r:id="R74ca89e03c9d45ef"/>
    <p:sldId xmlns:r="http://schemas.openxmlformats.org/officeDocument/2006/relationships" id="259" r:id="Rd2cb58ea38a5431b"/>
    <p:sldId xmlns:r="http://schemas.openxmlformats.org/officeDocument/2006/relationships" id="260" r:id="Ra9dad6f2d2924e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7e1a11e4e44f31" /><Relationship Type="http://schemas.openxmlformats.org/officeDocument/2006/relationships/slideMaster" Target="/ppt/slideMasters/slideMaster1.xml" Id="R9f6cdb0a1d9c4b4a" /><Relationship Type="http://schemas.openxmlformats.org/officeDocument/2006/relationships/notesMaster" Target="/ppt/notesMasters/notesMaster1.xml" Id="R99f5e133a7d74940" /><Relationship Type="http://schemas.openxmlformats.org/officeDocument/2006/relationships/presProps" Target="/ppt/presProps.xml" Id="Rbce8fae8d6c34864" /><Relationship Type="http://schemas.openxmlformats.org/officeDocument/2006/relationships/tableStyles" Target="/ppt/tableStyles.xml" Id="R88af770d64564e2c" /><Relationship Type="http://schemas.openxmlformats.org/officeDocument/2006/relationships/slide" Target="/ppt/slides/slide1.xml" Id="R2e8cd1d904664e7c" /><Relationship Type="http://schemas.openxmlformats.org/officeDocument/2006/relationships/slide" Target="/ppt/slides/slide2.xml" Id="R3c96b8ba6968416c" /><Relationship Type="http://schemas.openxmlformats.org/officeDocument/2006/relationships/slide" Target="/ppt/slides/slide3.xml" Id="R74ca89e03c9d45ef" /><Relationship Type="http://schemas.openxmlformats.org/officeDocument/2006/relationships/slide" Target="/ppt/slides/slide4.xml" Id="Rd2cb58ea38a5431b" /><Relationship Type="http://schemas.openxmlformats.org/officeDocument/2006/relationships/slide" Target="/ppt/slides/slide5.xml" Id="Ra9dad6f2d2924e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d5d5edcb25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e351404a044007" /><Relationship Type="http://schemas.openxmlformats.org/officeDocument/2006/relationships/notesMaster" Target="/ppt/notesMasters/notesMaster1.xml" Id="Rf1fbb7aed42b40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2ad5e2e5e497a" /><Relationship Type="http://schemas.openxmlformats.org/officeDocument/2006/relationships/notesMaster" Target="/ppt/notesMasters/notesMaster1.xml" Id="R694422764bcc4c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aa5ac1bccf4a04" /><Relationship Type="http://schemas.openxmlformats.org/officeDocument/2006/relationships/notesMaster" Target="/ppt/notesMasters/notesMaster1.xml" Id="Rd1c129599220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beced064b4c7f" /><Relationship Type="http://schemas.openxmlformats.org/officeDocument/2006/relationships/notesMaster" Target="/ppt/notesMasters/notesMaster1.xml" Id="R4b20b350573540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5dfd72b2e44a29" /><Relationship Type="http://schemas.openxmlformats.org/officeDocument/2006/relationships/notesMaster" Target="/ppt/notesMasters/notesMaster1.xml" Id="R66e6d329798546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127d9557e45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e8a1b483f540a1" /><Relationship Type="http://schemas.openxmlformats.org/officeDocument/2006/relationships/slideLayout" Target="/ppt/slideLayouts/slideLayout1.xml" Id="R849ff4d5fe4c45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9ff4d5fe4c45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dfd95bb7e4630" /><Relationship Type="http://schemas.openxmlformats.org/officeDocument/2006/relationships/notesSlide" Target="/ppt/notesSlides/notesSlide1.xml" Id="Rc6ddbde9841349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ad63f17a24e85" /><Relationship Type="http://schemas.openxmlformats.org/officeDocument/2006/relationships/notesSlide" Target="/ppt/notesSlides/notesSlide2.xml" Id="Reb91754c71254d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e3611b2374c51" /><Relationship Type="http://schemas.openxmlformats.org/officeDocument/2006/relationships/notesSlide" Target="/ppt/notesSlides/notesSlide3.xml" Id="Rdcc07a600a01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ff17fd1054273" /><Relationship Type="http://schemas.openxmlformats.org/officeDocument/2006/relationships/notesSlide" Target="/ppt/notesSlides/notesSlide4.xml" Id="R1a5d6831e2dc49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b0105a35f40bc" /><Relationship Type="http://schemas.openxmlformats.org/officeDocument/2006/relationships/notesSlide" Target="/ppt/notesSlides/notesSlide5.xml" Id="R777c0c32c9e0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8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AA204-57CC-47C2-9733-04162CC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E6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DE6FF"/>
                </a:solidFill>
                <a:latin typeface="Yu Gothic"/>
                <a:ea typeface="Yu Gothic"/>
                <a:cs typeface="Yu Gothic"/>
              </a:rPr>
              <a:t>PART 6 テスト資料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816DD-D123-426B-AF7A-E7388FC6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42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地方都市の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公共交通再編計画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C2151-93F4-48C2-8095-0A42AF71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DE6FF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DDE6FF"/>
                </a:solidFill>
                <a:latin typeface="Yu Gothic"/>
                <a:ea typeface="Yu Gothic"/>
                <a:cs typeface="Yu Gothic"/>
              </a:rPr>
              <a:t>PPTXの要約処理を確認するための構造化資料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60DF8-9658-46CC-B67C-BAB51938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B8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B8F"/>
                </a:solidFill>
                <a:latin typeface="Yu Gothic"/>
                <a:ea typeface="Yu Gothic"/>
                <a:cs typeface="Yu Gothic"/>
              </a:rPr>
              <a:t>主要数値</a:t>
            </a:r>
          </a:p>
          <a:p xmlns:a="http://schemas.openxmlformats.org/drawingml/2006/main">
            <a:pPr>
              <a:defRPr sz="1725" b="1">
                <a:solidFill>
                  <a:srgbClr val="173B8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B8F"/>
                </a:solidFill>
                <a:latin typeface="Yu Gothic"/>
                <a:ea typeface="Yu Gothic"/>
                <a:cs typeface="Yu Gothic"/>
              </a:rPr>
              <a:t>人口 18万人 → 14万人</a:t>
            </a:r>
          </a:p>
          <a:p xmlns:a="http://schemas.openxmlformats.org/drawingml/2006/main">
            <a:pPr>
              <a:defRPr sz="1725" b="1">
                <a:solidFill>
                  <a:srgbClr val="173B8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B8F"/>
                </a:solidFill>
                <a:latin typeface="Yu Gothic"/>
                <a:ea typeface="Yu Gothic"/>
                <a:cs typeface="Yu Gothic"/>
              </a:rPr>
              <a:t>38路線・経費22%増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7632D-ECBF-4B09-B99E-6BE69AD6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E6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DE6FF"/>
                </a:solidFill>
                <a:latin typeface="Yu Gothic"/>
                <a:ea typeface="Yu Gothic"/>
                <a:cs typeface="Yu Gothic"/>
              </a:rPr>
              <a:t>スライド見出し、本文、数値、実施時期が要約と根拠表示へ反映されるか確認します。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778439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F40BF-208E-4C6F-BC04-BEA915EA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7BB31-7B7D-4A1B-B842-35722A48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rPr>
              <a:t>公共交通網を再編する背景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067E5-1E2E-421B-AB9D-B5F45701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86CE7-B65C-4773-86E1-C8EAE526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2748A-8D47-4CB7-A453-1C0F11F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人口減少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1CAA1-56F1-4E27-A31D-72FC88F4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05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344054"/>
                </a:solidFill>
                <a:latin typeface="Yu Gothic"/>
                <a:ea typeface="Yu Gothic"/>
                <a:cs typeface="Yu Gothic"/>
              </a:rPr>
              <a:t>人口は2000年の約18万人から2026年には約14万人へ減少し、郊外では路線バスの利用者が大幅に減っている。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D1714-E0DA-4250-A37D-065B6EEF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115A3-7040-4890-A9D4-CB341E8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移動手段の必要性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8706C-D585-4C00-BDA2-F55DBA52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05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344054"/>
                </a:solidFill>
                <a:latin typeface="Yu Gothic"/>
                <a:ea typeface="Yu Gothic"/>
                <a:cs typeface="Yu Gothic"/>
              </a:rPr>
              <a:t>高齢者や学生にとって、バスは通院、通学、買い物に欠かせない移動手段である。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726A9-FD04-4B2F-94BA-A8D4D8C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E6EB1-E4D7-4DA7-A173-1DE7A965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運営上の課題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0C665-6570-4A7C-902C-7FEDA388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05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344054"/>
                </a:solidFill>
                <a:latin typeface="Yu Gothic"/>
                <a:ea typeface="Yu Gothic"/>
                <a:cs typeface="Yu Gothic"/>
              </a:rPr>
              <a:t>民間2社が38路線を運行している。経費は5年間で約22%増加し、市は年間約4億円を補助している。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799277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B0A8F-B0AA-4FEC-946B-F0A19DA5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再編案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65C19-9094-4D55-9778-A9D0D60F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rPr>
              <a:t>再編後の運行と実証結果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B089E-5D9A-436E-9F9F-E86D55F8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26B6B-2B50-4E8F-A6B7-1CF7896B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幹線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9E50D-C42E-4254-B3F1-1F72189D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30分間隔で運行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9286A-E4E3-47BF-A7DA-9EDFECA6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郊外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4E752-013F-4F0E-9257-0137A77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電話・スマホで予約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5DF29-9FEA-41E4-A84C-AF6D582D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主な移動先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A64DF-C105-410E-8A3A-551D580E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駅・病院・商業施設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114AD-24B0-40D3-9552-1088FC5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実証結果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72026-8A48-4DB6-8C9C-AF2A0886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23A3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A23A3A"/>
                </a:solidFill>
                <a:latin typeface="Yu Gothic"/>
                <a:ea typeface="Yu Gothic"/>
                <a:cs typeface="Yu Gothic"/>
              </a:rPr>
              <a:t>18分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4D6F7-953A-475F-B46B-B6931BF3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DE2FD-A48D-4D9B-B60C-D97E99C2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34D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6734D"/>
                </a:solidFill>
                <a:latin typeface="Yu Gothic"/>
                <a:ea typeface="Yu Gothic"/>
                <a:cs typeface="Yu Gothic"/>
              </a:rPr>
              <a:t>11分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0D80E-C2CA-47D0-8FF7-E04B61F1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平均待ち時間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AF3B-7FA6-4767-A1E0-28BAC2F4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734D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6734D"/>
                </a:solidFill>
                <a:latin typeface="Yu Gothic"/>
                <a:ea typeface="Yu Gothic"/>
                <a:cs typeface="Yu Gothic"/>
              </a:rPr>
              <a:t>約25%減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9A2AB-AF1A-4580-B6B3-867E181D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利用者1人当たり運行費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DFFDA-2119-452A-981D-E2F8C8E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利用支援：電話予約窓口、公民館での説明会、病院・高校の時間帯に予約不要の定時便を運行する。</a:t>
            </a:r>
          </a:p>
        </p:txBody>
      </p:sp>
    </p:spTree>
    <p:extLst>
      <p:ext uri="{BB962C8B-B14F-4D97-AF65-F5344CB8AC3E}">
        <p14:creationId xmlns:p14="http://schemas.microsoft.com/office/powerpoint/2010/main" val="1615916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25E54-9F73-41A4-9710-5248A07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制度設計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04F84-0F6F-4CCF-8B88-E179071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rPr>
              <a:t>運賃案と評価指標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5E6D-1D10-4F11-94E2-00E3BA7F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3655C-A2F8-4923-A04B-035540C3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区分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09DA8-CEA4-478D-9A1B-6E4CAA66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通常運賃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63E8D-903C-400A-8F4A-AD319BA1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割引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33432-F689-4DD4-93D3-BF8408A3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幹線バス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03D1E-B499-41FB-8C01-50205324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193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250円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772C1-74E2-4919-91AA-B771F86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1932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75歳以上の住民と障害者は半額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85C9F-5BA4-4019-8D22-D0A3B0DF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A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予約制小型乗合車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44951-56D5-4A81-8EE4-F6265065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289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A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400円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995AD-5ACE-4F1B-9CB3-413BA656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2892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A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同じ割引条件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AB9FD-DF89-4A95-A6E5-E3FF6D71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小学生以下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3B539-2A57-4ACD-A77F-B673FB1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385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0円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A83BB-112B-4A2E-A273-261BA47D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3852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無料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8D2FC-93AF-4408-9D7B-0351CD8B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評価指標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6C75F-BAE2-4A08-9B8B-39C2F8A4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利用者数・平均待ち時間・1人当たり運行費・予約拒否件数・満足度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B3C73-9606-4F53-8148-2409E078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満足度が高くても予約拒否が多い場合は、車両や運転手を増やす。</a:t>
            </a:r>
          </a:p>
        </p:txBody>
      </p:sp>
    </p:spTree>
    <p:extLst>
      <p:ext uri="{BB962C8B-B14F-4D97-AF65-F5344CB8AC3E}">
        <p14:creationId xmlns:p14="http://schemas.microsoft.com/office/powerpoint/2010/main" val="1282269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45883-C336-4F12-A6F2-1742DF4A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今後の進め方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4D597-501C-49E7-8E13-2F1D778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5243A"/>
                </a:solidFill>
                <a:latin typeface="Yu Gothic"/>
                <a:ea typeface="Yu Gothic"/>
                <a:cs typeface="Yu Gothic"/>
              </a:rPr>
              <a:t>実施スケジュール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6CAB4-E00B-4B23-B67F-2F1D28B9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1FF22-5E98-4BB0-83B9-FC6A61EB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2027年4月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593EB-9674-47B6-AA59-587C4A4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一部地域で開始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47E87-FC1E-4606-A3A7-869970BE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再編後のサービスを一部地域で開始する。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7B708-9968-4073-957B-D8476E5D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半年間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88594-75A5-4D1C-AC90-107383F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検証と調整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A259F-69AB-49C5-8DB6-7BC7553E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5つの指標を確認し、必要に応じて車両や運転手を増やす。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C1526-62A8-49B4-89FE-7E4F499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5CC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5CCB"/>
                </a:solidFill>
                <a:latin typeface="Yu Gothic"/>
                <a:ea typeface="Yu Gothic"/>
                <a:cs typeface="Yu Gothic"/>
              </a:rPr>
              <a:t>2028年度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819BE-A0E3-4DAB-B98A-1928818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市内全域へ拡大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AE950-93EB-41C8-A873-2C8D8DF3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238"/>
                </a:solidFill>
                <a:latin typeface="Yu Gothic"/>
                <a:ea typeface="Yu Gothic"/>
                <a:cs typeface="Yu Gothic"/>
              </a:rPr>
              <a:t>実証結果と住民意見を踏まえて全域へ広げる。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56976-C896-40BF-9A63-E61F1272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8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3B8F"/>
                </a:solidFill>
                <a:latin typeface="Yu Gothic"/>
                <a:ea typeface="Yu Gothic"/>
                <a:cs typeface="Yu Gothic"/>
              </a:rPr>
              <a:t>限られた予算と人員の中で移動機会を維持するための転換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3C09A-50A1-46E2-B495-A3817FD9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停留所廃止への住民の不安には、説明会と実証運行を通じて対応する。</a:t>
            </a:r>
          </a:p>
        </p:txBody>
      </p:sp>
    </p:spTree>
    <p:extLst>
      <p:ext uri="{BB962C8B-B14F-4D97-AF65-F5344CB8AC3E}">
        <p14:creationId xmlns:p14="http://schemas.microsoft.com/office/powerpoint/2010/main" val="1578064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2026-09-16T00:49:05.1210000Z</dcterms:created>
  <dcterms:modified xsi:type="dcterms:W3CDTF">2026-09-16T00:49:05.1210000Z</dcterms:modified>
</coreProperties>
</file>